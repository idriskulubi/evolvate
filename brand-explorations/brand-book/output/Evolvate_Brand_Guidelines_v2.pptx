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f1c42e2d34394" /><Relationship Type="http://schemas.openxmlformats.org/officeDocument/2006/relationships/extended-properties" Target="/docProps/app.xml" Id="R1eaaaee823e5448a" /><Relationship Type="http://schemas.openxmlformats.org/officeDocument/2006/relationships/officeDocument" Target="/ppt/presentation.xml" Id="R58a1d56e883942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da7367cba34f2a"/>
  </p:sldMasterIdLst>
  <p:notesMasterIdLst>
    <p:notesMasterId xmlns:r="http://schemas.openxmlformats.org/officeDocument/2006/relationships" r:id="R58ccd46b67004731"/>
  </p:notesMasterIdLst>
  <p:sldIdLst>
    <p:sldId xmlns:r="http://schemas.openxmlformats.org/officeDocument/2006/relationships" id="256" r:id="R48042d024a404b6c"/>
    <p:sldId xmlns:r="http://schemas.openxmlformats.org/officeDocument/2006/relationships" id="257" r:id="R962d6ec7187c40f8"/>
    <p:sldId xmlns:r="http://schemas.openxmlformats.org/officeDocument/2006/relationships" id="258" r:id="Rfeb219d5176943fb"/>
    <p:sldId xmlns:r="http://schemas.openxmlformats.org/officeDocument/2006/relationships" id="259" r:id="Ra4ac7d2710004a5a"/>
    <p:sldId xmlns:r="http://schemas.openxmlformats.org/officeDocument/2006/relationships" id="260" r:id="R265989c51e244f12"/>
    <p:sldId xmlns:r="http://schemas.openxmlformats.org/officeDocument/2006/relationships" id="261" r:id="Rdb6036eb4bea4edf"/>
    <p:sldId xmlns:r="http://schemas.openxmlformats.org/officeDocument/2006/relationships" id="262" r:id="R9131e81bc29b4635"/>
    <p:sldId xmlns:r="http://schemas.openxmlformats.org/officeDocument/2006/relationships" id="263" r:id="Rb01c4c3ce25546d1"/>
    <p:sldId xmlns:r="http://schemas.openxmlformats.org/officeDocument/2006/relationships" id="264" r:id="R17a2488dbe6d4099"/>
    <p:sldId xmlns:r="http://schemas.openxmlformats.org/officeDocument/2006/relationships" id="265" r:id="R816f0f1d11b34a7d"/>
    <p:sldId xmlns:r="http://schemas.openxmlformats.org/officeDocument/2006/relationships" id="266" r:id="R2e5c84d3deae4af2"/>
    <p:sldId xmlns:r="http://schemas.openxmlformats.org/officeDocument/2006/relationships" id="267" r:id="R54e27b78263e48d1"/>
    <p:sldId xmlns:r="http://schemas.openxmlformats.org/officeDocument/2006/relationships" id="268" r:id="R9ec9ac0136134cb8"/>
    <p:sldId xmlns:r="http://schemas.openxmlformats.org/officeDocument/2006/relationships" id="269" r:id="Re93cfe72231948c8"/>
    <p:sldId xmlns:r="http://schemas.openxmlformats.org/officeDocument/2006/relationships" id="270" r:id="Rff3a8645a145463d"/>
    <p:sldId xmlns:r="http://schemas.openxmlformats.org/officeDocument/2006/relationships" id="271" r:id="R12c8315d6a8c42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bd4a7b60a4bec" /><Relationship Type="http://schemas.openxmlformats.org/officeDocument/2006/relationships/slideMaster" Target="/ppt/slideMasters/slideMaster1.xml" Id="R7eda7367cba34f2a" /><Relationship Type="http://schemas.openxmlformats.org/officeDocument/2006/relationships/notesMaster" Target="/ppt/notesMasters/notesMaster1.xml" Id="R58ccd46b67004731" /><Relationship Type="http://schemas.openxmlformats.org/officeDocument/2006/relationships/presProps" Target="/ppt/presProps.xml" Id="Rc73e119fe068419e" /><Relationship Type="http://schemas.openxmlformats.org/officeDocument/2006/relationships/tableStyles" Target="/ppt/tableStyles.xml" Id="R3471ee6cd83243df" /><Relationship Type="http://schemas.openxmlformats.org/officeDocument/2006/relationships/slide" Target="/ppt/slides/slide1.xml" Id="R48042d024a404b6c" /><Relationship Type="http://schemas.openxmlformats.org/officeDocument/2006/relationships/slide" Target="/ppt/slides/slide2.xml" Id="R962d6ec7187c40f8" /><Relationship Type="http://schemas.openxmlformats.org/officeDocument/2006/relationships/slide" Target="/ppt/slides/slide3.xml" Id="Rfeb219d5176943fb" /><Relationship Type="http://schemas.openxmlformats.org/officeDocument/2006/relationships/slide" Target="/ppt/slides/slide4.xml" Id="Ra4ac7d2710004a5a" /><Relationship Type="http://schemas.openxmlformats.org/officeDocument/2006/relationships/slide" Target="/ppt/slides/slide5.xml" Id="R265989c51e244f12" /><Relationship Type="http://schemas.openxmlformats.org/officeDocument/2006/relationships/slide" Target="/ppt/slides/slide6.xml" Id="Rdb6036eb4bea4edf" /><Relationship Type="http://schemas.openxmlformats.org/officeDocument/2006/relationships/slide" Target="/ppt/slides/slide7.xml" Id="R9131e81bc29b4635" /><Relationship Type="http://schemas.openxmlformats.org/officeDocument/2006/relationships/slide" Target="/ppt/slides/slide8.xml" Id="Rb01c4c3ce25546d1" /><Relationship Type="http://schemas.openxmlformats.org/officeDocument/2006/relationships/slide" Target="/ppt/slides/slide9.xml" Id="R17a2488dbe6d4099" /><Relationship Type="http://schemas.openxmlformats.org/officeDocument/2006/relationships/slide" Target="/ppt/slides/slide10.xml" Id="R816f0f1d11b34a7d" /><Relationship Type="http://schemas.openxmlformats.org/officeDocument/2006/relationships/slide" Target="/ppt/slides/slide11.xml" Id="R2e5c84d3deae4af2" /><Relationship Type="http://schemas.openxmlformats.org/officeDocument/2006/relationships/slide" Target="/ppt/slides/slide12.xml" Id="R54e27b78263e48d1" /><Relationship Type="http://schemas.openxmlformats.org/officeDocument/2006/relationships/slide" Target="/ppt/slides/slide13.xml" Id="R9ec9ac0136134cb8" /><Relationship Type="http://schemas.openxmlformats.org/officeDocument/2006/relationships/slide" Target="/ppt/slides/slide14.xml" Id="Re93cfe72231948c8" /><Relationship Type="http://schemas.openxmlformats.org/officeDocument/2006/relationships/slide" Target="/ppt/slides/slide15.xml" Id="Rff3a8645a145463d" /><Relationship Type="http://schemas.openxmlformats.org/officeDocument/2006/relationships/slide" Target="/ppt/slides/slide16.xml" Id="R12c8315d6a8c42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08c57c03f147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4d47643964ecb" /><Relationship Type="http://schemas.openxmlformats.org/officeDocument/2006/relationships/notesMaster" Target="/ppt/notesMasters/notesMaster1.xml" Id="R05bfff62919a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930f54acd34957" /><Relationship Type="http://schemas.openxmlformats.org/officeDocument/2006/relationships/notesMaster" Target="/ppt/notesMasters/notesMaster1.xml" Id="R10f7cc22617348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8d615cb5364a97" /><Relationship Type="http://schemas.openxmlformats.org/officeDocument/2006/relationships/notesMaster" Target="/ppt/notesMasters/notesMaster1.xml" Id="Rb03204883f06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f078feab29445f" /><Relationship Type="http://schemas.openxmlformats.org/officeDocument/2006/relationships/notesMaster" Target="/ppt/notesMasters/notesMaster1.xml" Id="R317fa2d665314e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cc08cc43544e34" /><Relationship Type="http://schemas.openxmlformats.org/officeDocument/2006/relationships/notesMaster" Target="/ppt/notesMasters/notesMaster1.xml" Id="Re6dda3c1464040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8d22b516f1489c" /><Relationship Type="http://schemas.openxmlformats.org/officeDocument/2006/relationships/notesMaster" Target="/ppt/notesMasters/notesMaster1.xml" Id="R35937c95aaf34d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c1c18c6524c17" /><Relationship Type="http://schemas.openxmlformats.org/officeDocument/2006/relationships/notesMaster" Target="/ppt/notesMasters/notesMaster1.xml" Id="R9e522e20122342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b5e07ce8474228" /><Relationship Type="http://schemas.openxmlformats.org/officeDocument/2006/relationships/notesMaster" Target="/ppt/notesMasters/notesMaster1.xml" Id="Ra6628c5252ad4e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bbd5f2d8e94180" /><Relationship Type="http://schemas.openxmlformats.org/officeDocument/2006/relationships/notesMaster" Target="/ppt/notesMasters/notesMaster1.xml" Id="R407bfa02c88e40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ac50063f5744ca" /><Relationship Type="http://schemas.openxmlformats.org/officeDocument/2006/relationships/notesMaster" Target="/ppt/notesMasters/notesMaster1.xml" Id="R8564ebd4c81846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636609eb1f40b5" /><Relationship Type="http://schemas.openxmlformats.org/officeDocument/2006/relationships/notesMaster" Target="/ppt/notesMasters/notesMaster1.xml" Id="R0d078de9573446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84e70fafe8463f" /><Relationship Type="http://schemas.openxmlformats.org/officeDocument/2006/relationships/notesMaster" Target="/ppt/notesMasters/notesMaster1.xml" Id="R459d00d6bed847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741072ccd64700" /><Relationship Type="http://schemas.openxmlformats.org/officeDocument/2006/relationships/notesMaster" Target="/ppt/notesMasters/notesMaster1.xml" Id="Rea1b4ee1ccf544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0c313aa42c4986" /><Relationship Type="http://schemas.openxmlformats.org/officeDocument/2006/relationships/notesMaster" Target="/ppt/notesMasters/notesMaster1.xml" Id="R3d07973dbecd4b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c5e92ded434d7f" /><Relationship Type="http://schemas.openxmlformats.org/officeDocument/2006/relationships/notesMaster" Target="/ppt/notesMasters/notesMaster1.xml" Id="Rbc8bc96def2848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84926795634884" /><Relationship Type="http://schemas.openxmlformats.org/officeDocument/2006/relationships/notesMaster" Target="/ppt/notesMasters/notesMaster1.xml" Id="Rbdcf16a5335741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selected logo direction and brand story come from the Evolvate website project and the user-approved Common Ground concept. Working edition pending client approval and trademark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PRODUCT.md, docs/requirements.md, and current site copy in app/page.tsx and components/services.tsx.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Interpretive design rationale for the approved Common Ground mark. It is a proposed brand story, not a factual claim about company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 components use the geometry and colors in brand-explorations/common-ground-refined/primary.svg.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vector versions of the selected logo are stored in brand-explorations/common-ground-refined/.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Minimum sizes and clear-space rule are initial brand recommendations for the working identity. Check print reproduction with the chosen supplier.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HEX values come from the refined SVG logo. RGB colors are for digital design. Print conversions require proofs on the intended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Color application guidance based on PRODUCT.md and DESIGN.md, with the selected logo palette.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 is the website font in app/layout.tsx. Georgia is a proposed editorial companion from the design direction in DESIGN.md. The deck uses Arial where Inter may be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are adapted from the current Evolvate website copy and PRODUCT.md. Avoid invented statistics, guarantees, and jargon.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from PRODUCT.md and DESIGN.md. Image: existing project asset public/images/working-session.png.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product mockup generated with imagegen using a blank T-shirt prompt. Logo overlay is editable native PowerPoint geometry. Final production placement should be proofed with the supplier.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product mockup generated with imagegen using a blank notebook prompt. Logo overlay is editable native PowerPoint geometry. Final print color and size require a physical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product mockup generated with imagegen using a blank pen prompt. The wordmark overlay is editable text. Verify production at actual barrel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Initial usage rules for the selected Common Ground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identity is a working brand proposal. Trademark review, production artwork, and physical proofs remain required before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0da2d1bd942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a9c8808604414" /><Relationship Type="http://schemas.openxmlformats.org/officeDocument/2006/relationships/slideLayout" Target="/ppt/slideLayouts/slideLayout1.xml" Id="R139257e599e845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9257e599e845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1eacaad234b4b" /><Relationship Type="http://schemas.openxmlformats.org/officeDocument/2006/relationships/notesSlide" Target="/ppt/notesSlides/notesSlide1.xml" Id="Rd798c020b7804e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70bcc8ea54a73" /><Relationship Type="http://schemas.openxmlformats.org/officeDocument/2006/relationships/notesSlide" Target="/ppt/notesSlides/notesSlide2.xml" Id="Rf6f6792ebd5a46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caac9183e4fe8" /><Relationship Type="http://schemas.openxmlformats.org/officeDocument/2006/relationships/notesSlide" Target="/ppt/notesSlides/notesSlide3.xml" Id="Rb884bec9518e4a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bbb8c154a46a4" /><Relationship Type="http://schemas.openxmlformats.org/officeDocument/2006/relationships/notesSlide" Target="/ppt/notesSlides/notesSlide4.xml" Id="R008e72b7642843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8a141e9db4c0d" /><Relationship Type="http://schemas.openxmlformats.org/officeDocument/2006/relationships/notesSlide" Target="/ppt/notesSlides/notesSlide5.xml" Id="R177592cabbfa49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9882123694a21" /><Relationship Type="http://schemas.openxmlformats.org/officeDocument/2006/relationships/notesSlide" Target="/ppt/notesSlides/notesSlide6.xml" Id="Ree7301e502cd40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a511855c34996" /><Relationship Type="http://schemas.openxmlformats.org/officeDocument/2006/relationships/notesSlide" Target="/ppt/notesSlides/notesSlide7.xml" Id="R5f241ab5c78d4f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e04f0ad64404" /><Relationship Type="http://schemas.openxmlformats.org/officeDocument/2006/relationships/notesSlide" Target="/ppt/notesSlides/notesSlide8.xml" Id="Rd27dfc714f7042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7682dd6dc472c" /><Relationship Type="http://schemas.openxmlformats.org/officeDocument/2006/relationships/notesSlide" Target="/ppt/notesSlides/notesSlide9.xml" Id="Rcf64a5c4369148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e294e84d5462f" /><Relationship Type="http://schemas.openxmlformats.org/officeDocument/2006/relationships/notesSlide" Target="/ppt/notesSlides/notesSlide10.xml" Id="R9c2daf7b4e784e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71116efe049a3" /><Relationship Type="http://schemas.openxmlformats.org/officeDocument/2006/relationships/image" Target="/ppt/media/image.jpeg" Id="R9716baca3d344a7b" /><Relationship Type="http://schemas.openxmlformats.org/officeDocument/2006/relationships/notesSlide" Target="/ppt/notesSlides/notesSlide11.xml" Id="Ra90fcf3e278440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1dff90f604f1e" /><Relationship Type="http://schemas.openxmlformats.org/officeDocument/2006/relationships/image" Target="/ppt/media/image.png" Id="R11c5c4462d2f4aa0" /><Relationship Type="http://schemas.openxmlformats.org/officeDocument/2006/relationships/notesSlide" Target="/ppt/notesSlides/notesSlide12.xml" Id="Rcbfcdd6315494e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7fa2743194db2" /><Relationship Type="http://schemas.openxmlformats.org/officeDocument/2006/relationships/image" Target="/ppt/media/image2.png" Id="Rbb89987736ba4293" /><Relationship Type="http://schemas.openxmlformats.org/officeDocument/2006/relationships/notesSlide" Target="/ppt/notesSlides/notesSlide13.xml" Id="R69be068713884e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18f7c61bd4c8e" /><Relationship Type="http://schemas.openxmlformats.org/officeDocument/2006/relationships/image" Target="/ppt/media/image3.png" Id="Rf28b7bb1aa1947b8" /><Relationship Type="http://schemas.openxmlformats.org/officeDocument/2006/relationships/notesSlide" Target="/ppt/notesSlides/notesSlide14.xml" Id="Raa868621c01445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4529bbed249ac" /><Relationship Type="http://schemas.openxmlformats.org/officeDocument/2006/relationships/notesSlide" Target="/ppt/notesSlides/notesSlide15.xml" Id="Rb1645268925d4a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9a8e4c9234d65" /><Relationship Type="http://schemas.openxmlformats.org/officeDocument/2006/relationships/notesSlide" Target="/ppt/notesSlides/notesSlide16.xml" Id="R241faad2941b47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EE61B-99A4-41EC-B3BE-7C6F09A4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477328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2879">
            <a:solidFill>
              <a:srgbClr val="F5F6F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1EAE0-031C-42DF-8458-E51B6301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" y="2154555"/>
            <a:ext cx="1477328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2879">
            <a:solidFill>
              <a:srgbClr val="A8C5B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BAB61-FA55-4728-86C8-200EBFA6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" y="2673191"/>
            <a:ext cx="660083" cy="172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7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BF4A8-5124-4630-BB3E-09B1FF1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20" y="2233136"/>
            <a:ext cx="6443663" cy="1178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91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8910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0393B-3DDB-4FA4-A1DB-141623CF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301" y="3333274"/>
            <a:ext cx="597217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33" b="1">
                <a:solidFill>
                  <a:srgbClr val="C0D2C5"/>
                </a:solidFill>
                <a:latin typeface="Arial"/>
                <a:ea typeface="Arial"/>
                <a:cs typeface="Arial"/>
              </a:defRPr>
            </a:pPr>
            <a:r>
              <a:rPr sz="1733" b="1">
                <a:solidFill>
                  <a:srgbClr val="C0D2C5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117EE-AC08-4783-9CC9-4B4B32FB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F5F6F0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5F6F0"/>
                </a:solidFill>
                <a:latin typeface="Georgia"/>
                <a:ea typeface="Georgia"/>
                <a:cs typeface="Georgia"/>
              </a:rPr>
              <a:t>Brand guidelines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450D9-557E-43B7-A628-5B02828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0D2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D2C5"/>
                </a:solidFill>
                <a:latin typeface="Arial"/>
                <a:ea typeface="Arial"/>
                <a:cs typeface="Arial"/>
              </a:rPr>
              <a:t>Common Ground identity · Working edition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52959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669BF-CE7C-4A8A-B375-D335959B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Brand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BEF0A-0F06-45BB-A555-046464D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E0BA3-1DB6-4907-B803-62121506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2DEB2-D596-43D2-BC6C-BB51DF5A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76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Clear decisions.</a:t>
            </a:r>
          </a:p>
          <a:p xmlns:a="http://schemas.openxmlformats.org/drawingml/2006/main">
            <a:pPr>
              <a:defRPr sz="3975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Connected expertise.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847E1-2A16-4FA0-BD89-D9DE0BC4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Evolvate helps founders, growing businesses, and established organizations connect business direction with financial reality and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C9921-1D98-496B-8166-F9D2E9A3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724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1E202-CDF7-48E3-AFBC-BBD82740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The identity should feel composed, useful, and confident.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2234F-C233-4AF4-A0D3-287036D6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571625"/>
            <a:ext cx="23622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14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0BC9B-7CD1-4037-8858-F45CF823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828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Business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</p:spTree>
    <p:extLst>
      <p:ext uri="{BB962C8B-B14F-4D97-AF65-F5344CB8AC3E}">
        <p14:creationId xmlns:p14="http://schemas.microsoft.com/office/powerpoint/2010/main" val="1124214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937A0-40E5-40B2-AE92-20470B0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The story behind the 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769D5-7B02-430A-849D-0FB0C48C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9E96F-2BB4-4A8C-BFA4-D8DFDDB3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68D19-CFE6-4020-9215-B0F4D52A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1969770" cy="1969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0505">
            <a:solidFill>
              <a:srgbClr val="2D51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B1CF1-0933-4EA7-89B3-A80A7BE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410" y="2444115"/>
            <a:ext cx="1969770" cy="1969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0505">
            <a:solidFill>
              <a:srgbClr val="7FA39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B2360-916C-483F-B8B5-F562F076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410" y="3135630"/>
            <a:ext cx="880110" cy="2305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B75DB-E7B8-4467-83BC-4ACF4C3E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335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Two perspectives, one working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22CC2-5BE1-499A-9A9E-0D1E5847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The two frames stand for the different parts of a business that must make sense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AA013-45C3-4013-BDFB-48D4721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Their overlap is where strategy meets financial and operational reality.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EFC14-FB5C-45D0-B4C1-4CC09059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672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The warm line marks the shared decision that moves work forward.</a:t>
            </a:r>
          </a:p>
        </p:txBody>
      </p:sp>
    </p:spTree>
    <p:extLst>
      <p:ext uri="{BB962C8B-B14F-4D97-AF65-F5344CB8AC3E}">
        <p14:creationId xmlns:p14="http://schemas.microsoft.com/office/powerpoint/2010/main" val="1995095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9E45E-A67B-4C50-A57C-A73FDAB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Logo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60696-E49D-406C-A8C6-CAE5574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6AACA-DE91-428C-9626-6620CE3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7E59B-3D1D-4660-A692-451D0272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2014538" cy="2014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5744">
            <a:solidFill>
              <a:srgbClr val="2D51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BA5DF-C753-4279-9C2D-E66EB5FB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47975"/>
            <a:ext cx="2014538" cy="2014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5744">
            <a:solidFill>
              <a:srgbClr val="7FA39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0A84A-9CF3-4A57-BDF2-4EC01E9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55206"/>
            <a:ext cx="900113" cy="235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4C757-53D6-41BC-97BB-F65A144B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050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1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882F7-C383-4778-8DEE-58A89B49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33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Frame 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1E28A-CE43-4D50-9C6F-F4BB65C2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240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The business context and direction.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FD8D2-FA3D-44F9-8C41-C38DD94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4325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E6004-8360-4042-8E86-0F57FE6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Frame two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AF602-16F6-45DB-9418-800789F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62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The people, resources, and delivery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BDC7F-70C5-4ABC-9904-30DBFCF2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815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27740-4152-463E-B00E-0F30A272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0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Connection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FBD02-CB2A-45AA-AA28-8C24CE76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005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The point where those views inform a decision.</a:t>
            </a:r>
          </a:p>
        </p:txBody>
      </p:sp>
    </p:spTree>
    <p:extLst>
      <p:ext uri="{BB962C8B-B14F-4D97-AF65-F5344CB8AC3E}">
        <p14:creationId xmlns:p14="http://schemas.microsoft.com/office/powerpoint/2010/main" val="577390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79199C-10D6-4C0F-A6DF-7C3FCEBE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Logo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D5204-24B5-47CC-BBC4-DBD0F4A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1ABC6-35F0-4E7E-8B92-6BDD9ABE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69C50-29C4-457E-9989-9B267AE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143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A87BB-E78B-441F-B3B6-423DA862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644652" cy="644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5438">
            <a:solidFill>
              <a:srgbClr val="2D51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22F7E-2B26-49AD-A0C5-E89A221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41" y="1954149"/>
            <a:ext cx="644652" cy="644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5438">
            <a:solidFill>
              <a:srgbClr val="7FA39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D7E89-AE2F-4B3C-B7E8-3D103DA7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41" y="2180463"/>
            <a:ext cx="288036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930F2-DC61-4F08-976C-5675336D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861" y="1988439"/>
            <a:ext cx="28117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88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888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DFA6B-5054-4310-B839-31A28147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151" y="2468499"/>
            <a:ext cx="26060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6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756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4DFD8-09AF-4A39-9AF4-254240B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E8BEC-B948-4310-AEE7-9B9C866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143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2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73BE6-2372-4BC3-A39A-398AF55F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644652" cy="644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5438">
            <a:solidFill>
              <a:srgbClr val="F5F6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73E2B-A26E-46B9-A2A0-652EB13A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91" y="1954149"/>
            <a:ext cx="644652" cy="644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5438">
            <a:solidFill>
              <a:srgbClr val="A8C5B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5F31A-F780-413D-AF61-E6E70FBF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91" y="2180463"/>
            <a:ext cx="288036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7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890E5-11BE-49DE-8360-CB92CF9A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611" y="1988439"/>
            <a:ext cx="28117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88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3888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91CE8-D0FE-4E42-8A1E-24557DE2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901" y="2468499"/>
            <a:ext cx="26060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6" b="1">
                <a:solidFill>
                  <a:srgbClr val="C0D2C5"/>
                </a:solidFill>
                <a:latin typeface="Arial"/>
                <a:ea typeface="Arial"/>
                <a:cs typeface="Arial"/>
              </a:defRPr>
            </a:pPr>
            <a:r>
              <a:rPr sz="756" b="1">
                <a:solidFill>
                  <a:srgbClr val="C0D2C5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90589-1CC3-4D64-8BFC-541E76FE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861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0D2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D2C5"/>
                </a:solidFill>
                <a:latin typeface="Arial"/>
                <a:ea typeface="Arial"/>
                <a:cs typeface="Arial"/>
              </a:rPr>
              <a:t>REVERSED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0D355-D3D6-481E-9C31-1D80E4FD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143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288B7-759D-49EE-9AC8-09D96FA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644652" cy="644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5438">
            <a:solidFill>
              <a:srgbClr val="20382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F6367-CFED-43BF-9C12-525E35F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41" y="4325874"/>
            <a:ext cx="644652" cy="644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5438">
            <a:solidFill>
              <a:srgbClr val="20382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BC425-C1D2-4568-83D8-5C973032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41" y="4552188"/>
            <a:ext cx="288036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2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D9EC0-53FE-4A69-83DB-36B8F376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861" y="4360164"/>
            <a:ext cx="28117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88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888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35CFB-9B10-4A59-9C65-822A0A0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151" y="4840224"/>
            <a:ext cx="26060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6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756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17719-6081-4261-94C0-D32576BD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57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ONE COLOR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6A381-608A-46FD-A577-133D5BD8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2850"/>
            <a:ext cx="5143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D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A68A5-8F55-432A-B3A6-5BB6C9D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48125"/>
            <a:ext cx="1092327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826">
            <a:solidFill>
              <a:srgbClr val="2D514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EFA97C-ACCC-4CB3-AF02-817E8621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366" y="4373499"/>
            <a:ext cx="1092327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826">
            <a:solidFill>
              <a:srgbClr val="7FA39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F4003-7456-4B2A-9296-46552E83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366" y="4756976"/>
            <a:ext cx="488061" cy="12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BAD939-A38D-471E-81D1-E882412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457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950458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2C665-D79E-430A-81B3-E3A94605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Clear space and minimum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AD6F4-3D98-4F27-9A1F-2A64D9DB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137FB-DB7A-41CB-A141-1BAACDC1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0EA8C-621A-447C-95BA-6246E62D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Give the mark room to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56DE2-E306-488A-A002-2810725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0505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Keep empty space around every side. Use the width of the copper bridge as the minimum clear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D8402-7DCA-45F4-A927-238B83B2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Digital minimums</a:t>
            </a:r>
          </a:p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Full logo: 160 px wide</a:t>
            </a:r>
          </a:p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Symbol: 24 px wide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F0DAD-9632-4B19-8768-CC76161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D13D3-2932-47E4-9FCF-335C0C5F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00250"/>
            <a:ext cx="4238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73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6BF54-A352-4ED2-B037-81665966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43175"/>
            <a:ext cx="555117" cy="555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4961">
            <a:solidFill>
              <a:srgbClr val="2D514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2417A-3C6E-4A68-815E-1FF8DB1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236" y="2708529"/>
            <a:ext cx="555117" cy="555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4961">
            <a:solidFill>
              <a:srgbClr val="7FA3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3FA63-E0BD-43B0-B550-5B8C9C6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236" y="2903411"/>
            <a:ext cx="248031" cy="649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E8E82-5CEF-4427-9674-A539DE0B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006" y="2738057"/>
            <a:ext cx="242125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48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48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59E19-A9F6-4FAB-B607-FED8F27E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534" y="3151442"/>
            <a:ext cx="224409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51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651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E656A-599F-4770-B6D4-54F3AFF6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495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Do not crowd the mark with copy, edges, or other logos.</a:t>
            </a:r>
          </a:p>
        </p:txBody>
      </p:sp>
    </p:spTree>
    <p:extLst>
      <p:ext uri="{BB962C8B-B14F-4D97-AF65-F5344CB8AC3E}">
        <p14:creationId xmlns:p14="http://schemas.microsoft.com/office/powerpoint/2010/main" val="1966989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7D9CE-FED8-427F-B656-A9798213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Brand colors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50695-E833-454A-91F3-89F0802C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6D539-FFD1-47AA-83CE-31E02177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8E147-F4D3-4A7D-986D-481F029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000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2E"/>
          </a:solidFill>
          <a:ln xmlns:a="http://schemas.openxmlformats.org/drawingml/2006/main" w="9525">
            <a:solidFill>
              <a:srgbClr val="20382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391F3-C9F8-4398-8277-1CC1B7FD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0057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Strategy 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3B850-268D-45CD-8011-9F31248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#20382E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941D1-A9B2-4F16-82B8-D739C5C7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24000"/>
            <a:ext cx="2000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142"/>
          </a:solidFill>
          <a:ln xmlns:a="http://schemas.openxmlformats.org/drawingml/2006/main" w="9525">
            <a:solidFill>
              <a:srgbClr val="2D514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D8262-E12C-4DA7-A6B7-260D4736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0057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0FA9D-556F-4644-BAEC-21A43EFF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9110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#2D5142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7602C-634F-4CE1-BE54-A115E30B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24000"/>
            <a:ext cx="2000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9525">
            <a:solidFill>
              <a:srgbClr val="7FA3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6046F-BA4E-4BD4-A560-34A7B71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0057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81901-E294-4598-87DB-B164FD1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9110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#7FA390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FFC0E-E630-4BB9-90DA-C1248E4D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24000"/>
            <a:ext cx="2000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9525">
            <a:solidFill>
              <a:srgbClr val="BD73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4EBFE-4D4C-4722-BE9C-0A959E2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0057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Copper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7698C-DA65-4337-9393-BF6B8696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9110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#BD7351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4CCAD-3732-4DB2-A9BC-FEA9955C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24000"/>
            <a:ext cx="2000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0"/>
          </a:solidFill>
          <a:ln xmlns:a="http://schemas.openxmlformats.org/drawingml/2006/main" w="19050">
            <a:solidFill>
              <a:srgbClr val="B9C8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33DC8-568E-4C71-96B1-61DA8A0F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0057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Journal Paper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19AF5-78D7-46EA-9721-18031E0E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9110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#F5F6F0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5884F-B3EF-4559-81E9-6D3E2C21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293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Use copper sparingly for the connecting detail and selected points of emphasis.</a:t>
            </a:r>
          </a:p>
        </p:txBody>
      </p:sp>
    </p:spTree>
    <p:extLst>
      <p:ext uri="{BB962C8B-B14F-4D97-AF65-F5344CB8AC3E}">
        <p14:creationId xmlns:p14="http://schemas.microsoft.com/office/powerpoint/2010/main" val="716516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DC530-44E5-44CB-BD22-E2886AD7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Color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86559-0250-4893-9247-1C9EC3A7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6DE8E-F84A-4CEF-A66A-AE571DD8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1B87C-AF14-4105-8D1D-8FF01694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5095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0"/>
          </a:solidFill>
          <a:ln xmlns:a="http://schemas.openxmlformats.org/drawingml/2006/main" w="9525">
            <a:solidFill>
              <a:srgbClr val="20382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44189-B44F-4D04-BC66-85FEF0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38375"/>
            <a:ext cx="680466" cy="680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9629">
            <a:solidFill>
              <a:srgbClr val="2D51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46297-5C73-48BB-8CF8-F3CB4F12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353" y="2441067"/>
            <a:ext cx="680466" cy="680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9629">
            <a:solidFill>
              <a:srgbClr val="7FA39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0C0CB-10DC-4FE9-977D-67D08E92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353" y="2679954"/>
            <a:ext cx="304038" cy="79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E8C4F-5C61-4CBD-9898-4F4D544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13" y="2477262"/>
            <a:ext cx="296799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04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4104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2E26A-4B0C-491B-AD80-7688BB0A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983992"/>
            <a:ext cx="275082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8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798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CC0C7-4133-40F4-BAF3-5F9AC49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095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4E516-DD5D-4885-81C1-44F1EFE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38375"/>
            <a:ext cx="680466" cy="680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9629">
            <a:solidFill>
              <a:srgbClr val="F5F6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A0AE4-1D22-4159-B331-DE11667B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41067"/>
            <a:ext cx="680466" cy="680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9629">
            <a:solidFill>
              <a:srgbClr val="A8C5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3BEC3-845E-4873-B950-91D2C752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679954"/>
            <a:ext cx="304038" cy="79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807DE-63C1-493E-B843-B4F6BA0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188" y="2477262"/>
            <a:ext cx="296799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04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4104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E0A54-E866-4709-A0FF-A8FCCBF7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383" y="2983992"/>
            <a:ext cx="275082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8" b="1">
                <a:solidFill>
                  <a:srgbClr val="C0D2C5"/>
                </a:solidFill>
                <a:latin typeface="Arial"/>
                <a:ea typeface="Arial"/>
                <a:cs typeface="Arial"/>
              </a:defRPr>
            </a:pPr>
            <a:r>
              <a:rPr sz="798" b="1">
                <a:solidFill>
                  <a:srgbClr val="C0D2C5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B4704-A8AD-4045-BD33-B03B3E0E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Paper carries the main experience. Dark green gives high contrast and authority.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A4A0A-7D70-48A4-A5CD-DB59987C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29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Use the reversed logo on deep green. Keep the copper accent rare.</a:t>
            </a:r>
          </a:p>
        </p:txBody>
      </p:sp>
    </p:spTree>
    <p:extLst>
      <p:ext uri="{BB962C8B-B14F-4D97-AF65-F5344CB8AC3E}">
        <p14:creationId xmlns:p14="http://schemas.microsoft.com/office/powerpoint/2010/main" val="745812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D562A-86D2-4131-B440-2333FC0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Typography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7B4BA-F4B7-414E-A4BC-3753A351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4FB6D-381F-440E-ADE0-4FA7597D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D1A44-611C-4B0A-B03D-903D9E92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Georgia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D6C99-8F91-4A84-84AC-42BB8428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905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For considered headlines and editorial moments.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60D40-B114-4E38-9532-13A80FCD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3D012-BB63-4CA6-8B78-70E6EE5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Clear thinking for consequential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81BEB-AEBD-440F-9831-E6FC63C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09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Inter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DAF28-3A95-48B1-9B23-70F8CC65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For navigation, body copy, data, and calls to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AA55C-A5B2-4630-BAC6-8655F573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1B4AC-FB24-4DCF-B2D8-7A17D37A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61962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Evolvate combines business development, financial management, and project controls in one practical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65DA5-7FF0-469C-B41D-802C3605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PowerPoint fallback: Arial for Inter. Keep headlines short and body text easy to scan.</a:t>
            </a:r>
          </a:p>
        </p:txBody>
      </p:sp>
    </p:spTree>
    <p:extLst>
      <p:ext uri="{BB962C8B-B14F-4D97-AF65-F5344CB8AC3E}">
        <p14:creationId xmlns:p14="http://schemas.microsoft.com/office/powerpoint/2010/main" val="18725134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82B4B-A38C-44A5-B443-15844B97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Brand voice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E30BF-0085-42E7-A605-3E832B2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5CDB7-8313-4204-A241-BA343BC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F192F-17B0-4953-8B3B-CF0C61BE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Calm, direct, specific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9A07E-CB30-4FC5-BB5E-E59BBC86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41B9E-CD5D-43AA-9159-56188F43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Say what we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04352-A08A-4A91-9465-D48E9974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9557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“Bring cost and progress into one view.”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7FE1B-3597-4C18-8893-E9535779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38C1E-07F9-4046-A213-1E69A796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Name the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DBE5E-58D5-4BB6-8F61-BE5554A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6237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“See where growth can come from before you commit.”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F0AAA-662E-4B6E-B62A-A55E6F02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D1A2F-7E3F-4EEC-BBB8-812589B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Stay measured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A2139-9E2C-4195-8C24-1F212A8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2917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“We help make the options clearer.”</a:t>
            </a:r>
          </a:p>
        </p:txBody>
      </p:sp>
    </p:spTree>
    <p:extLst>
      <p:ext uri="{BB962C8B-B14F-4D97-AF65-F5344CB8AC3E}">
        <p14:creationId xmlns:p14="http://schemas.microsoft.com/office/powerpoint/2010/main" val="915563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0A7FD-E078-4BCE-8139-9913ECE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Photography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D2D9C-4F9E-40F4-B2FE-EE87FCD0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473E4-1477-44AE-9D61-0881EA0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6baca3d344a7b"/>
          <a:srcRect xmlns:a="http://schemas.openxmlformats.org/drawingml/2006/main" l="532" t="0" r="5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25" y="1362075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DD162-B4D9-4E17-B7B6-E59FF99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Show work in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72C3E-E152-488F-A62E-20689EFA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3952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Choose real people, working materials, and environments that make the service tangible. Use natural light and composed framing. Leave room for a clear headline.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A98AB-0EF8-42ED-9098-BB9AD57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Avoid stock handshakes and staged boardrooms.</a:t>
            </a:r>
          </a:p>
        </p:txBody>
      </p:sp>
    </p:spTree>
    <p:extLst>
      <p:ext uri="{BB962C8B-B14F-4D97-AF65-F5344CB8AC3E}">
        <p14:creationId xmlns:p14="http://schemas.microsoft.com/office/powerpoint/2010/main" val="8649714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3542F-1D5C-4684-9C0E-9372AC15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Application: team shirt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68A82-DC44-43C6-9DF6-AD4ABEA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27522-FD0C-4D67-8164-3503159D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5c4462d2f4aa0"/>
          <a:srcRect xmlns:a="http://schemas.openxmlformats.org/drawingml/2006/main" l="2750" t="0" r="2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285875"/>
            <a:ext cx="600075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63ADD-0384-413D-80F1-DD9355A2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A small mark, worn with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0C6D6-E496-44FF-95B7-01DA779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Place the symbol on the upper chest in the light version. Keep the mark modest so the shirt feels like professional team wear.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6B186-F080-4CF4-8869-CF3E0521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71750"/>
            <a:ext cx="322326" cy="322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7719">
            <a:solidFill>
              <a:srgbClr val="F5F6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9F1D4-53BC-4819-B63E-0B12EE6D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733" y="2667762"/>
            <a:ext cx="322326" cy="322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7719">
            <a:solidFill>
              <a:srgbClr val="A8C5B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80C75-AFAA-4FCB-BE3A-DAC66BDF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733" y="2780919"/>
            <a:ext cx="144018" cy="37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7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3DF88-DF9C-44A9-904A-8919944F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Suggested finish: embroidery</a:t>
            </a:r>
          </a:p>
        </p:txBody>
      </p:sp>
    </p:spTree>
    <p:extLst>
      <p:ext uri="{BB962C8B-B14F-4D97-AF65-F5344CB8AC3E}">
        <p14:creationId xmlns:p14="http://schemas.microsoft.com/office/powerpoint/2010/main" val="2136137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6922F-5AA3-403E-B98E-EA4532A6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Application: notebook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19C8A-6EC1-41E0-98C9-F3EBF478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B0B3B-7003-4623-9227-E82268A7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9987736ba4293"/>
          <a:srcRect xmlns:a="http://schemas.openxmlformats.org/drawingml/2006/main" l="7333" t="0" r="7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314450"/>
            <a:ext cx="6096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31A7A-F16B-49E2-ACCC-D441EB9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Make the working object feel considered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AAF4C-AF06-4DAF-B87C-67C2AF51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7433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On a warm paper cover, use the full primary logo with generous space around it. Keep the rest of the cover quiet.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83A0E-B4B5-4224-81F3-AC1131BB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393954" cy="393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6101">
            <a:solidFill>
              <a:srgbClr val="2D514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B1737-3254-422D-AB56-1ACB5FC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132" y="3070098"/>
            <a:ext cx="393954" cy="393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6101">
            <a:solidFill>
              <a:srgbClr val="7FA39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B0FAD-4426-4ABD-ACE4-A5538F99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132" y="3208401"/>
            <a:ext cx="176022" cy="46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F8D47-7327-4A6E-AD06-1D3164B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91053"/>
            <a:ext cx="17183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76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376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8805F-EF53-4957-97A6-614EA9C0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827" y="3384423"/>
            <a:ext cx="159258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2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462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C O N S U L T I N 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EAEB8-9D75-414D-8875-5648E859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Suggested finish: flat print or deboss</a:t>
            </a:r>
          </a:p>
        </p:txBody>
      </p:sp>
    </p:spTree>
    <p:extLst>
      <p:ext uri="{BB962C8B-B14F-4D97-AF65-F5344CB8AC3E}">
        <p14:creationId xmlns:p14="http://schemas.microsoft.com/office/powerpoint/2010/main" val="2125835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CFEF9-4C3F-4433-ACFD-1EB1863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Application: 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25A12-C140-42BC-B217-8CCA1C8A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BAD54-B9CD-440C-B77F-8E4E894D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b7bb1aa1947b8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09800"/>
            <a:ext cx="10820400" cy="4057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9FE70-155C-4ACF-8ED3-57F6D6BB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Keep small surfaces simple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5763B-94F9-40E9-9F68-CBA9C41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Use the wordmark without the descriptor when space is limited.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12634-F360-485B-9CEC-B4312DF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evolvate</a:t>
            </a:r>
          </a:p>
        </p:txBody>
      </p:sp>
    </p:spTree>
    <p:extLst>
      <p:ext uri="{BB962C8B-B14F-4D97-AF65-F5344CB8AC3E}">
        <p14:creationId xmlns:p14="http://schemas.microsoft.com/office/powerpoint/2010/main" val="12701684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F39A4-041E-4216-9B88-7DBF80F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Logo misuse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601C1-EB34-4C8F-8B8B-016A1085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F4F31-BDAD-4A52-AE41-858E2A4F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06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8C975-F87B-409E-83C2-E6FB8D90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0382E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20382E"/>
                </a:solidFill>
                <a:latin typeface="Georgia"/>
                <a:ea typeface="Georgia"/>
                <a:cs typeface="Georgia"/>
              </a:rPr>
              <a:t>Protect the structure that makes the mark recognizable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BB486-245B-41BB-8851-F8734914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384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553FB-271E-4503-8706-A38BB72F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9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Do not stretch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617B6-74AB-4366-8BE9-833F1A34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289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Keep both frames square and preserve the overlap.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18B7C-E95F-45C8-A403-B9109A0E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384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BD33D-A63F-4EC4-B012-3D99D60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9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Do not recolor freely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77069-0D57-4619-8F6B-530411F2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Use only the specified color or one-color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BED6F-4996-4416-A24A-F0BD1D9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148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65D1E-8540-48F3-B0C0-46F27B2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Do not decorate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F424C-7ABC-4C02-A245-8209076D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05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Avoid shadows, gradients, outlines, and extra effects.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AE489-9C9F-47E1-87A1-15CC767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148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9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4721D-8720-495D-A861-247C14B5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Do not 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02EF1-FD76-42BC-9A06-7603701A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0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64"/>
                </a:solidFill>
                <a:latin typeface="Arial"/>
                <a:ea typeface="Arial"/>
                <a:cs typeface="Arial"/>
              </a:rPr>
              <a:t>Keep the full symbol and required clear space.</a:t>
            </a:r>
          </a:p>
        </p:txBody>
      </p:sp>
    </p:spTree>
    <p:extLst>
      <p:ext uri="{BB962C8B-B14F-4D97-AF65-F5344CB8AC3E}">
        <p14:creationId xmlns:p14="http://schemas.microsoft.com/office/powerpoint/2010/main" val="18380263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3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D1870-4AEA-4A2F-BBBA-DD67B126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Working files and next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674D5-B036-49EA-9D6C-554C9F2C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4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0093-A6E9-4F99-A879-5891EF9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C5B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C5B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5182D-8A13-4B42-AF76-3CFAD178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5F6F0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5F6F0"/>
                </a:solidFill>
                <a:latin typeface="Georgia"/>
                <a:ea typeface="Georgia"/>
                <a:cs typeface="Georgia"/>
              </a:rPr>
              <a:t>A practical identity, ready to refine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F8446-D773-4901-B52A-B817D3F0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81300"/>
            <a:ext cx="5048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Included in this deck</a:t>
            </a:r>
          </a:p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Editable guidance and layouts</a:t>
            </a:r>
          </a:p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Color and type specifications</a:t>
            </a:r>
          </a:p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Conceptual merchandise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383D6-B4D6-4B36-8A97-207E9284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81300"/>
            <a:ext cx="50958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Before public launch</a:t>
            </a:r>
          </a:p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Approve final lettering and logo master</a:t>
            </a:r>
          </a:p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Check trademark availability</a:t>
            </a:r>
          </a:p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Proof print colors and embroidery</a:t>
            </a:r>
          </a:p>
          <a:p xmlns:a="http://schemas.openxmlformats.org/drawingml/2006/main">
            <a:pPr>
              <a:defRPr sz="187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Export outlined production artwork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0B81F-FE9A-42F5-855E-37E5D418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3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9222C-2BB9-4411-B2A4-6583A1D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38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0D2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D2C5"/>
                </a:solidFill>
                <a:latin typeface="Arial"/>
                <a:ea typeface="Arial"/>
                <a:cs typeface="Arial"/>
              </a:rPr>
              <a:t>Source vectors: brand-explorations/common-ground-refined/</a:t>
            </a:r>
          </a:p>
        </p:txBody>
      </p:sp>
    </p:spTree>
    <p:extLst>
      <p:ext uri="{BB962C8B-B14F-4D97-AF65-F5344CB8AC3E}">
        <p14:creationId xmlns:p14="http://schemas.microsoft.com/office/powerpoint/2010/main" val="913148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2026-09-30T17:01:30.7260000Z</dcterms:created>
  <dcterms:modified xsi:type="dcterms:W3CDTF">2026-09-30T17:01:30.7260000Z</dcterms:modified>
</coreProperties>
</file>